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3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2214554"/>
            <a:ext cx="7772400" cy="1470025"/>
          </a:xfrm>
        </p:spPr>
        <p:txBody>
          <a:bodyPr>
            <a:normAutofit/>
          </a:bodyPr>
          <a:lstStyle/>
          <a:p>
            <a:r>
              <a:rPr lang="ru-RU" dirty="0" err="1" smtClean="0"/>
              <a:t>Остовное</a:t>
            </a:r>
            <a:r>
              <a:rPr lang="ru-RU" dirty="0" smtClean="0"/>
              <a:t> дерево и алгоритм </a:t>
            </a:r>
            <a:r>
              <a:rPr lang="ru-RU" dirty="0" err="1" smtClean="0"/>
              <a:t>Крускала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err="1" smtClean="0"/>
              <a:t>Остовное</a:t>
            </a:r>
            <a:r>
              <a:rPr lang="ru-RU" b="0" dirty="0" smtClean="0"/>
              <a:t> дерево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Есть несколько </a:t>
            </a:r>
            <a:r>
              <a:rPr lang="ru-RU" dirty="0" smtClean="0"/>
              <a:t>городов (вершины) и дороги между ними (рёбра). </a:t>
            </a:r>
            <a:r>
              <a:rPr lang="ru-RU" dirty="0" err="1" smtClean="0"/>
              <a:t>Остовное</a:t>
            </a:r>
            <a:r>
              <a:rPr lang="ru-RU" dirty="0" smtClean="0"/>
              <a:t> дерево — это такой набор дорог, который:</a:t>
            </a:r>
          </a:p>
          <a:p>
            <a:r>
              <a:rPr lang="ru-RU" dirty="0" smtClean="0"/>
              <a:t>соединяет </a:t>
            </a:r>
            <a:r>
              <a:rPr lang="ru-RU" b="1" dirty="0" smtClean="0"/>
              <a:t>все города</a:t>
            </a:r>
            <a:r>
              <a:rPr lang="ru-RU" dirty="0" smtClean="0"/>
              <a:t> (без изолированных)</a:t>
            </a:r>
          </a:p>
          <a:p>
            <a:r>
              <a:rPr lang="ru-RU" dirty="0" smtClean="0"/>
              <a:t>но </a:t>
            </a:r>
            <a:r>
              <a:rPr lang="ru-RU" b="1" dirty="0" smtClean="0"/>
              <a:t>без лишних дорог</a:t>
            </a:r>
            <a:r>
              <a:rPr lang="ru-RU" dirty="0" smtClean="0"/>
              <a:t> (нет ни одного замкнутого маршрута — цикла)</a:t>
            </a:r>
          </a:p>
          <a:p>
            <a:r>
              <a:rPr lang="ru-RU" dirty="0" smtClean="0"/>
              <a:t>получается как «скелет» сети.</a:t>
            </a:r>
          </a:p>
          <a:p>
            <a:r>
              <a:rPr lang="ru-RU" dirty="0" smtClean="0"/>
              <a:t>Пример: 3 города соединены треугольником (3 дороги). </a:t>
            </a:r>
            <a:r>
              <a:rPr lang="ru-RU" dirty="0" err="1" smtClean="0"/>
              <a:t>Остовное</a:t>
            </a:r>
            <a:r>
              <a:rPr lang="ru-RU" dirty="0" smtClean="0"/>
              <a:t> дерево — это любые 2 дороги, которые связывают все 3 города. Третья дорога лишняя, она создаёт цикл.</a:t>
            </a:r>
          </a:p>
          <a:p>
            <a:r>
              <a:rPr lang="ru-RU" b="1" dirty="0" smtClean="0"/>
              <a:t>Важные простые термины:</a:t>
            </a:r>
            <a:endParaRPr lang="ru-RU" dirty="0" smtClean="0"/>
          </a:p>
          <a:p>
            <a:r>
              <a:rPr lang="ru-RU" b="1" dirty="0" smtClean="0"/>
              <a:t>Вершина</a:t>
            </a:r>
            <a:r>
              <a:rPr lang="ru-RU" dirty="0" smtClean="0"/>
              <a:t> — </a:t>
            </a:r>
            <a:r>
              <a:rPr lang="ru-RU" dirty="0" smtClean="0"/>
              <a:t>точка</a:t>
            </a:r>
            <a:endParaRPr lang="ru-RU" dirty="0" smtClean="0"/>
          </a:p>
          <a:p>
            <a:r>
              <a:rPr lang="ru-RU" b="1" dirty="0" smtClean="0"/>
              <a:t>Ребро</a:t>
            </a:r>
            <a:r>
              <a:rPr lang="ru-RU" dirty="0" smtClean="0"/>
              <a:t> — связь между </a:t>
            </a:r>
            <a:r>
              <a:rPr lang="ru-RU" dirty="0" smtClean="0"/>
              <a:t>вершинами</a:t>
            </a:r>
            <a:endParaRPr lang="ru-RU" dirty="0" smtClean="0"/>
          </a:p>
          <a:p>
            <a:r>
              <a:rPr lang="ru-RU" b="1" dirty="0" smtClean="0"/>
              <a:t>Вес ребра</a:t>
            </a:r>
            <a:r>
              <a:rPr lang="ru-RU" dirty="0" smtClean="0"/>
              <a:t> — </a:t>
            </a:r>
            <a:r>
              <a:rPr lang="ru-RU" dirty="0" smtClean="0"/>
              <a:t>число</a:t>
            </a:r>
            <a:endParaRPr lang="ru-RU" dirty="0" smtClean="0"/>
          </a:p>
          <a:p>
            <a:r>
              <a:rPr lang="ru-RU" b="1" dirty="0" smtClean="0"/>
              <a:t>Цикл</a:t>
            </a:r>
            <a:r>
              <a:rPr lang="ru-RU" dirty="0" smtClean="0"/>
              <a:t> — путь, который начинается и заканчивается в одной вершине, не проходя дважды по одному </a:t>
            </a:r>
            <a:r>
              <a:rPr lang="ru-RU" dirty="0" smtClean="0"/>
              <a:t>ребру</a:t>
            </a:r>
            <a:endParaRPr lang="ru-RU" dirty="0" smtClean="0"/>
          </a:p>
          <a:p>
            <a:r>
              <a:rPr lang="ru-RU" b="1" dirty="0" smtClean="0"/>
              <a:t>Связный граф</a:t>
            </a:r>
            <a:r>
              <a:rPr lang="ru-RU" dirty="0" smtClean="0"/>
              <a:t> — от любой вершины можно добраться до любой другой.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Область применения</a:t>
            </a:r>
            <a:endParaRPr lang="ru-RU" b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Остовное</a:t>
            </a:r>
            <a:r>
              <a:rPr lang="ru-RU" b="1" dirty="0" smtClean="0"/>
              <a:t> дерево необходимо, чтобы минимальными </a:t>
            </a:r>
            <a:r>
              <a:rPr lang="ru-RU" b="1" dirty="0" smtClean="0"/>
              <a:t>усилиями соединить все точки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smtClean="0"/>
              <a:t>Пример из жизни:</a:t>
            </a:r>
          </a:p>
          <a:p>
            <a:r>
              <a:rPr lang="ru-RU" dirty="0" smtClean="0"/>
              <a:t>Проложить интернет-кабель между домами так, чтобы все были подключены, но кабеля потратить как можно меньше.</a:t>
            </a:r>
          </a:p>
          <a:p>
            <a:r>
              <a:rPr lang="ru-RU" dirty="0" smtClean="0"/>
              <a:t>Если </a:t>
            </a:r>
            <a:r>
              <a:rPr lang="ru-RU" dirty="0" smtClean="0"/>
              <a:t>у каждого ребра есть </a:t>
            </a:r>
            <a:r>
              <a:rPr lang="ru-RU" b="1" dirty="0" smtClean="0"/>
              <a:t>вес</a:t>
            </a:r>
            <a:r>
              <a:rPr lang="ru-RU" dirty="0" smtClean="0"/>
              <a:t> (длина, цена), то </a:t>
            </a:r>
            <a:r>
              <a:rPr lang="ru-RU" dirty="0" smtClean="0"/>
              <a:t>нужно</a:t>
            </a:r>
            <a:r>
              <a:rPr lang="ru-RU" dirty="0" smtClean="0"/>
              <a:t> </a:t>
            </a:r>
            <a:r>
              <a:rPr lang="ru-RU" b="1" dirty="0" smtClean="0"/>
              <a:t>минимальное </a:t>
            </a:r>
            <a:r>
              <a:rPr lang="ru-RU" b="1" dirty="0" err="1" smtClean="0"/>
              <a:t>остовное</a:t>
            </a:r>
            <a:r>
              <a:rPr lang="ru-RU" b="1" dirty="0" smtClean="0"/>
              <a:t> дерево (MST)</a:t>
            </a:r>
            <a:r>
              <a:rPr lang="ru-RU" dirty="0" smtClean="0"/>
              <a:t> — </a:t>
            </a:r>
            <a:r>
              <a:rPr lang="ru-RU" dirty="0" err="1" smtClean="0"/>
              <a:t>остовное</a:t>
            </a:r>
            <a:r>
              <a:rPr lang="ru-RU" dirty="0" smtClean="0"/>
              <a:t> дерево с наименьшей суммой весов.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Алгоритм </a:t>
            </a:r>
            <a:r>
              <a:rPr lang="ru-RU" b="0" dirty="0" err="1" smtClean="0"/>
              <a:t>Крускала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Алгоритм </a:t>
            </a:r>
            <a:r>
              <a:rPr lang="ru-RU" dirty="0" err="1" smtClean="0"/>
              <a:t>Крускала</a:t>
            </a:r>
            <a:r>
              <a:rPr lang="ru-RU" dirty="0" smtClean="0"/>
              <a:t> — это простой и понятный способ найти минимальное </a:t>
            </a:r>
            <a:r>
              <a:rPr lang="ru-RU" dirty="0" err="1" smtClean="0"/>
              <a:t>остовное</a:t>
            </a:r>
            <a:r>
              <a:rPr lang="ru-RU" dirty="0" smtClean="0"/>
              <a:t> дерево. Он работает как </a:t>
            </a:r>
            <a:r>
              <a:rPr lang="ru-RU" b="1" dirty="0" smtClean="0"/>
              <a:t>жадный алгоритм</a:t>
            </a:r>
            <a:r>
              <a:rPr lang="ru-RU" dirty="0" smtClean="0"/>
              <a:t>: на каждом шаге берёт самое дешёвое ребро, которое не создаёт цикла.</a:t>
            </a:r>
          </a:p>
          <a:p>
            <a:r>
              <a:rPr lang="ru-RU" b="1" dirty="0" smtClean="0"/>
              <a:t>Список </a:t>
            </a:r>
            <a:r>
              <a:rPr lang="ru-RU" b="1" dirty="0" smtClean="0"/>
              <a:t>всех рёбер</a:t>
            </a:r>
            <a:r>
              <a:rPr lang="ru-RU" dirty="0" smtClean="0"/>
              <a:t> с весами.</a:t>
            </a:r>
          </a:p>
          <a:p>
            <a:r>
              <a:rPr lang="ru-RU" b="1" dirty="0" smtClean="0"/>
              <a:t>Сортируем</a:t>
            </a:r>
            <a:r>
              <a:rPr lang="ru-RU" dirty="0" smtClean="0"/>
              <a:t> рёбра от самого маленького веса к самому большому.</a:t>
            </a:r>
          </a:p>
          <a:p>
            <a:r>
              <a:rPr lang="ru-RU" b="1" dirty="0" smtClean="0"/>
              <a:t>Идём по списку</a:t>
            </a:r>
            <a:r>
              <a:rPr lang="ru-RU" dirty="0" smtClean="0"/>
              <a:t> и добавляем ребро в </a:t>
            </a:r>
            <a:r>
              <a:rPr lang="ru-RU" dirty="0" err="1" smtClean="0"/>
              <a:t>остовное</a:t>
            </a:r>
            <a:r>
              <a:rPr lang="ru-RU" dirty="0" smtClean="0"/>
              <a:t> дерево, </a:t>
            </a:r>
            <a:r>
              <a:rPr lang="ru-RU" b="1" dirty="0" smtClean="0"/>
              <a:t>если оно не образует цикл</a:t>
            </a:r>
            <a:r>
              <a:rPr lang="ru-RU" dirty="0" smtClean="0"/>
              <a:t> с уже добавленными.</a:t>
            </a:r>
          </a:p>
          <a:p>
            <a:r>
              <a:rPr lang="ru-RU" dirty="0" smtClean="0"/>
              <a:t>Повторяем, пока не добавим (количество </a:t>
            </a:r>
            <a:r>
              <a:rPr lang="ru-RU" dirty="0" smtClean="0"/>
              <a:t>вершин−1</a:t>
            </a:r>
            <a:r>
              <a:rPr lang="ru-RU" dirty="0" smtClean="0"/>
              <a:t>) </a:t>
            </a:r>
            <a:r>
              <a:rPr lang="ru-RU" dirty="0" smtClean="0"/>
              <a:t>ребер.</a:t>
            </a:r>
            <a:endParaRPr lang="ru-RU" dirty="0" smtClean="0"/>
          </a:p>
          <a:p>
            <a:r>
              <a:rPr lang="ru-RU" b="1" dirty="0" smtClean="0"/>
              <a:t>Как проверять цикл?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Можно использовать простую идею: хранить, какие вершины уже связаны (например, «разноцветные компоненты»). Если две вершины уже в одной компоненте — новое ребро создаст цикл, его не берём.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Пусть </a:t>
            </a:r>
            <a:r>
              <a:rPr lang="ru-RU" dirty="0" smtClean="0"/>
              <a:t>4 вершины: A, B, C, D.</a:t>
            </a:r>
            <a:br>
              <a:rPr lang="ru-RU" dirty="0" smtClean="0"/>
            </a:br>
            <a:r>
              <a:rPr lang="ru-RU" dirty="0" smtClean="0"/>
              <a:t>Рёбра с весами:</a:t>
            </a:r>
          </a:p>
          <a:p>
            <a:r>
              <a:rPr lang="ru-RU" dirty="0" smtClean="0"/>
              <a:t>A–B (1)</a:t>
            </a:r>
          </a:p>
          <a:p>
            <a:r>
              <a:rPr lang="ru-RU" dirty="0" smtClean="0"/>
              <a:t>B–C (2)</a:t>
            </a:r>
          </a:p>
          <a:p>
            <a:r>
              <a:rPr lang="ru-RU" dirty="0" smtClean="0"/>
              <a:t>A–C (3)</a:t>
            </a:r>
          </a:p>
          <a:p>
            <a:r>
              <a:rPr lang="ru-RU" dirty="0" smtClean="0"/>
              <a:t>C–D (4)</a:t>
            </a:r>
          </a:p>
          <a:p>
            <a:r>
              <a:rPr lang="ru-RU" dirty="0" smtClean="0"/>
              <a:t>B–D (5)</a:t>
            </a:r>
          </a:p>
          <a:p>
            <a:r>
              <a:rPr lang="ru-RU" b="1" dirty="0" smtClean="0"/>
              <a:t>Шаг 1:</a:t>
            </a:r>
            <a:r>
              <a:rPr lang="ru-RU" dirty="0" smtClean="0"/>
              <a:t> Берём A–B (вес 1) → добавляем.</a:t>
            </a:r>
            <a:br>
              <a:rPr lang="ru-RU" dirty="0" smtClean="0"/>
            </a:br>
            <a:r>
              <a:rPr lang="ru-RU" b="1" dirty="0" smtClean="0"/>
              <a:t>Шаг 2:</a:t>
            </a:r>
            <a:r>
              <a:rPr lang="ru-RU" dirty="0" smtClean="0"/>
              <a:t> Берём B–C (вес 2) → добавляем (цикла нет).</a:t>
            </a:r>
            <a:br>
              <a:rPr lang="ru-RU" dirty="0" smtClean="0"/>
            </a:br>
            <a:r>
              <a:rPr lang="ru-RU" b="1" dirty="0" smtClean="0"/>
              <a:t>Шаг 3:</a:t>
            </a:r>
            <a:r>
              <a:rPr lang="ru-RU" dirty="0" smtClean="0"/>
              <a:t> Берём A–C (вес 3) — но A и C уже связаны через A–B–C, поэтому это ребро создаст треугольник-цикл → пропускаем.</a:t>
            </a:r>
            <a:br>
              <a:rPr lang="ru-RU" dirty="0" smtClean="0"/>
            </a:br>
            <a:r>
              <a:rPr lang="ru-RU" b="1" dirty="0" smtClean="0"/>
              <a:t>Шаг 4:</a:t>
            </a:r>
            <a:r>
              <a:rPr lang="ru-RU" dirty="0" smtClean="0"/>
              <a:t> Берём C–D (вес 4) → добавляем. Теперь рёбер стало 3 (4 вершины − 1 = 3), стоп.</a:t>
            </a:r>
            <a:br>
              <a:rPr lang="ru-RU" dirty="0" smtClean="0"/>
            </a:br>
            <a:r>
              <a:rPr lang="ru-RU" b="1" dirty="0" smtClean="0"/>
              <a:t>Итоговое минимальное </a:t>
            </a:r>
            <a:r>
              <a:rPr lang="ru-RU" b="1" dirty="0" err="1" smtClean="0"/>
              <a:t>остовное</a:t>
            </a:r>
            <a:r>
              <a:rPr lang="ru-RU" b="1" dirty="0" smtClean="0"/>
              <a:t> дерево:</a:t>
            </a:r>
            <a:r>
              <a:rPr lang="ru-RU" dirty="0" smtClean="0"/>
              <a:t> A–B (1), B–C (2), C–D (4). Сумма весов = 7.</a:t>
            </a:r>
          </a:p>
          <a:p>
            <a:r>
              <a:rPr lang="ru-RU" dirty="0" smtClean="0"/>
              <a:t>Любой </a:t>
            </a:r>
            <a:r>
              <a:rPr lang="ru-RU" dirty="0" smtClean="0"/>
              <a:t>другой набор дорог даст сумму больше (например, если взять A–C вместо B–C, сумма станет 1+3+4=8).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79</Words>
  <PresentationFormat>Экран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Остовное дерево и алгоритм Крускала</vt:lpstr>
      <vt:lpstr>Остовное дерево</vt:lpstr>
      <vt:lpstr>Область применения</vt:lpstr>
      <vt:lpstr>Алгоритм Крускала</vt:lpstr>
      <vt:lpstr>Пример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Остовное дерево и алгоритм Крускала</dc:title>
  <dc:creator>Happy</dc:creator>
  <cp:lastModifiedBy>Happy</cp:lastModifiedBy>
  <cp:revision>3</cp:revision>
  <dcterms:created xsi:type="dcterms:W3CDTF">2026-04-20T19:04:29Z</dcterms:created>
  <dcterms:modified xsi:type="dcterms:W3CDTF">2026-04-20T19:19:56Z</dcterms:modified>
</cp:coreProperties>
</file>